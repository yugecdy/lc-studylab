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21"/>
  </p:handoutMasterIdLst>
  <p:sldIdLst>
    <p:sldId id="616" r:id="rId3"/>
    <p:sldId id="1293" r:id="rId4"/>
    <p:sldId id="1294" r:id="rId5"/>
    <p:sldId id="1295" r:id="rId6"/>
    <p:sldId id="1297" r:id="rId7"/>
    <p:sldId id="1309" r:id="rId9"/>
    <p:sldId id="1300" r:id="rId10"/>
    <p:sldId id="1301" r:id="rId11"/>
    <p:sldId id="1321" r:id="rId12"/>
    <p:sldId id="1318" r:id="rId13"/>
    <p:sldId id="1319" r:id="rId14"/>
    <p:sldId id="1320" r:id="rId15"/>
    <p:sldId id="1310" r:id="rId16"/>
    <p:sldId id="1304" r:id="rId17"/>
    <p:sldId id="1305" r:id="rId18"/>
    <p:sldId id="1308" r:id="rId19"/>
    <p:sldId id="1306" r:id="rId20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FF"/>
    <a:srgbClr val="BF5198"/>
    <a:srgbClr val="692AA2"/>
    <a:srgbClr val="3F2CF6"/>
    <a:srgbClr val="F2F2F2"/>
    <a:srgbClr val="7C2E60"/>
    <a:srgbClr val="D30724"/>
    <a:srgbClr val="D142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42"/>
    <p:restoredTop sz="86465"/>
  </p:normalViewPr>
  <p:slideViewPr>
    <p:cSldViewPr showGuides="1">
      <p:cViewPr varScale="1">
        <p:scale>
          <a:sx n="60" d="100"/>
          <a:sy n="60" d="100"/>
        </p:scale>
        <p:origin x="-1422" y="-96"/>
      </p:cViewPr>
      <p:guideLst>
        <p:guide orient="horz" pos="2212"/>
        <p:guide pos="2880"/>
      </p:guideLst>
    </p:cSldViewPr>
  </p:slideViewPr>
  <p:outlineViewPr>
    <p:cViewPr>
      <p:scale>
        <a:sx n="33" d="100"/>
        <a:sy n="33" d="100"/>
      </p:scale>
      <p:origin x="0" y="13411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0"/>
            <a:r>
              <a:rPr lang="zh-CN" altLang="en-US" dirty="0"/>
              <a:t>第二级</a:t>
            </a:r>
            <a:endParaRPr lang="zh-CN" altLang="en-US" dirty="0"/>
          </a:p>
          <a:p>
            <a:pPr lvl="2" indent="0"/>
            <a:r>
              <a:rPr lang="zh-CN" altLang="en-US" dirty="0"/>
              <a:t>第三级</a:t>
            </a:r>
            <a:endParaRPr lang="zh-CN" altLang="en-US" dirty="0"/>
          </a:p>
          <a:p>
            <a:pPr lvl="3" indent="0"/>
            <a:r>
              <a:rPr lang="zh-CN" altLang="en-US" dirty="0"/>
              <a:t>第四级</a:t>
            </a:r>
            <a:endParaRPr lang="zh-CN" altLang="en-US" dirty="0"/>
          </a:p>
          <a:p>
            <a:pPr lvl="4" indent="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88"/>
          <p:cNvSpPr>
            <a:spLocks noChangeArrowheads="1"/>
          </p:cNvSpPr>
          <p:nvPr/>
        </p:nvSpPr>
        <p:spPr bwMode="gray">
          <a:xfrm>
            <a:off x="684213" y="333375"/>
            <a:ext cx="5905500" cy="5761038"/>
          </a:xfrm>
          <a:prstGeom prst="ellipse">
            <a:avLst/>
          </a:prstGeom>
          <a:gradFill rotWithShape="1">
            <a:gsLst>
              <a:gs pos="0">
                <a:schemeClr val="bg2">
                  <a:alpha val="48000"/>
                </a:schemeClr>
              </a:gs>
              <a:gs pos="100000">
                <a:schemeClr val="bg2">
                  <a:gamma/>
                  <a:tint val="0"/>
                  <a:invGamma/>
                  <a:alpha val="80000"/>
                </a:schemeClr>
              </a:gs>
            </a:gsLst>
            <a:lin ang="0" scaled="1"/>
          </a:gra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 89"/>
          <p:cNvSpPr>
            <a:spLocks noChangeArrowheads="1"/>
          </p:cNvSpPr>
          <p:nvPr/>
        </p:nvSpPr>
        <p:spPr bwMode="auto">
          <a:xfrm>
            <a:off x="0" y="4437063"/>
            <a:ext cx="9144000" cy="1728788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Oval 90" descr="medical perspectives_EYEWIRE(04)_nfine"/>
          <p:cNvSpPr>
            <a:spLocks noChangeArrowheads="1"/>
          </p:cNvSpPr>
          <p:nvPr/>
        </p:nvSpPr>
        <p:spPr bwMode="auto">
          <a:xfrm>
            <a:off x="152400" y="1447800"/>
            <a:ext cx="2667000" cy="2514600"/>
          </a:xfrm>
          <a:prstGeom prst="ellipse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38100">
            <a:solidFill>
              <a:schemeClr val="bg1"/>
            </a:solidFill>
            <a:round/>
          </a:ln>
          <a:effectLst>
            <a:outerShdw dist="89803" dir="2700000" algn="ctr" rotWithShape="0">
              <a:srgbClr val="000000">
                <a:alpha val="18999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Oval 93"/>
          <p:cNvSpPr>
            <a:spLocks noChangeArrowheads="1"/>
          </p:cNvSpPr>
          <p:nvPr/>
        </p:nvSpPr>
        <p:spPr bwMode="auto">
          <a:xfrm>
            <a:off x="4211638" y="2636838"/>
            <a:ext cx="1223963" cy="1223963"/>
          </a:xfrm>
          <a:prstGeom prst="ellipse">
            <a:avLst/>
          </a:prstGeom>
          <a:solidFill>
            <a:srgbClr val="1BABE5">
              <a:alpha val="10196"/>
            </a:srgbClr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054" name="图片 12" descr="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48600" y="5029200"/>
            <a:ext cx="1065213" cy="1174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5" name="图片 6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4800" y="152400"/>
            <a:ext cx="1543050" cy="1371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6" name="图片 14" descr="图片包含 鲜花, 植物, 花瓶, 白色&#10;&#10;已生成极高可信度的说明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424738" y="6096000"/>
            <a:ext cx="1719262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3429000" y="1447800"/>
            <a:ext cx="4572000" cy="2133600"/>
          </a:xfrm>
          <a:effectLst>
            <a:outerShdw dist="53882" dir="2700000" algn="ctr" rotWithShape="0">
              <a:schemeClr val="bg2"/>
            </a:outerShdw>
          </a:effectLst>
        </p:spPr>
        <p:txBody>
          <a:bodyPr/>
          <a:lstStyle>
            <a:lvl1pPr algn="r">
              <a:defRPr sz="4400" b="1">
                <a:solidFill>
                  <a:schemeClr val="tx1"/>
                </a:solidFill>
              </a:defRPr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  <a:endParaRPr lang="en-US" altLang="zh-CN" strike="noStrike" noProof="1"/>
          </a:p>
        </p:txBody>
      </p:sp>
      <p:sp>
        <p:nvSpPr>
          <p:cNvPr id="17" name="页脚占位符 6"/>
          <p:cNvSpPr>
            <a:spLocks noGrp="1"/>
          </p:cNvSpPr>
          <p:nvPr>
            <p:ph type="ftr" sz="quarter" idx="3"/>
          </p:nvPr>
        </p:nvSpPr>
        <p:spPr>
          <a:xfrm>
            <a:off x="4572000" y="6400800"/>
            <a:ext cx="3581400" cy="298450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rgbClr val="BF5198"/>
                </a:solidFill>
                <a:latin typeface="Segoe Print" panose="02000600000000000000" pitchFamily="2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BF5198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+mn-cs"/>
              </a:rPr>
              <a:t>Help  Hope  Holistic  Health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BF5198"/>
              </a:solidFill>
              <a:effectLst/>
              <a:uLnTx/>
              <a:uFillTx/>
              <a:latin typeface="Segoe Print" panose="02000600000000000000" pitchFamily="2" charset="0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6400" y="609600"/>
            <a:ext cx="5410200" cy="563562"/>
          </a:xfrm>
        </p:spPr>
        <p:txBody>
          <a:bodyPr/>
          <a:lstStyle>
            <a:lvl1pPr>
              <a:defRPr sz="28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1600" y="1524000"/>
            <a:ext cx="6096000" cy="47244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BF5198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+mn-cs"/>
              </a:rPr>
              <a:t>Help  Hope  Holistic  Health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BF5198"/>
              </a:solidFill>
              <a:effectLst/>
              <a:uLnTx/>
              <a:uFillTx/>
              <a:latin typeface="Segoe Print" panose="02000600000000000000" pitchFamily="2" charset="0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BF5198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+mn-cs"/>
              </a:rPr>
              <a:t>Help  Hope  Holistic  Health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BF5198"/>
              </a:solidFill>
              <a:effectLst/>
              <a:uLnTx/>
              <a:uFillTx/>
              <a:latin typeface="Segoe Print" panose="02000600000000000000" pitchFamily="2" charset="0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4478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9200" y="14478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BF5198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+mn-cs"/>
              </a:rPr>
              <a:t>Help  Hope  Holistic  Health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BF5198"/>
              </a:solidFill>
              <a:effectLst/>
              <a:uLnTx/>
              <a:uFillTx/>
              <a:latin typeface="Segoe Print" panose="02000600000000000000" pitchFamily="2" charset="0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日期占位符 7"/>
          <p:cNvSpPr>
            <a:spLocks noGrp="1"/>
          </p:cNvSpPr>
          <p:nvPr>
            <p:ph type="dt" sz="half" idx="12"/>
          </p:nvPr>
        </p:nvSpPr>
        <p:spPr>
          <a:xfrm>
            <a:off x="5410200" y="304800"/>
            <a:ext cx="2667000" cy="227013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572000" y="6400800"/>
            <a:ext cx="3581400" cy="298450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rgbClr val="BF5198"/>
                </a:solidFill>
                <a:latin typeface="Segoe Print" panose="02000600000000000000" pitchFamily="2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BF5198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+mn-cs"/>
              </a:rPr>
              <a:t>Help  Hope  Holistic  Health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BF5198"/>
              </a:solidFill>
              <a:effectLst/>
              <a:uLnTx/>
              <a:uFillTx/>
              <a:latin typeface="Segoe Print" panose="02000600000000000000" pitchFamily="2" charset="0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BF5198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+mn-cs"/>
              </a:rPr>
              <a:t>Help  Hope  Holistic  Health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BF5198"/>
              </a:solidFill>
              <a:effectLst/>
              <a:uLnTx/>
              <a:uFillTx/>
              <a:latin typeface="Segoe Print" panose="02000600000000000000" pitchFamily="2" charset="0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BF5198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+mn-cs"/>
              </a:rPr>
              <a:t>Help  Hope  Holistic  Health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BF5198"/>
              </a:solidFill>
              <a:effectLst/>
              <a:uLnTx/>
              <a:uFillTx/>
              <a:latin typeface="Segoe Print" panose="02000600000000000000" pitchFamily="2" charset="0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BF5198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+mn-cs"/>
              </a:rPr>
              <a:t>Help  Hope  Holistic  Health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BF5198"/>
              </a:solidFill>
              <a:effectLst/>
              <a:uLnTx/>
              <a:uFillTx/>
              <a:latin typeface="Segoe Print" panose="02000600000000000000" pitchFamily="2" charset="0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2"/>
          </p:nvPr>
        </p:nvSpPr>
        <p:spPr>
          <a:xfrm>
            <a:off x="5410200" y="304800"/>
            <a:ext cx="2667000" cy="227013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页脚占位符 6"/>
          <p:cNvSpPr>
            <a:spLocks noGrp="1"/>
          </p:cNvSpPr>
          <p:nvPr>
            <p:ph type="ftr" sz="quarter" idx="3"/>
          </p:nvPr>
        </p:nvSpPr>
        <p:spPr>
          <a:xfrm>
            <a:off x="4572000" y="6400800"/>
            <a:ext cx="3581400" cy="298450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rgbClr val="BF5198"/>
                </a:solidFill>
                <a:latin typeface="Segoe Print" panose="02000600000000000000" pitchFamily="2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BF5198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+mn-cs"/>
              </a:rPr>
              <a:t>Help  Hope  Holistic  Health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BF5198"/>
              </a:solidFill>
              <a:effectLst/>
              <a:uLnTx/>
              <a:uFillTx/>
              <a:latin typeface="Segoe Print" panose="02000600000000000000" pitchFamily="2" charset="0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48500" y="579438"/>
            <a:ext cx="2095500" cy="589756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579438"/>
            <a:ext cx="6134100" cy="589756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3429000" y="6477000"/>
            <a:ext cx="2133600" cy="3079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ea typeface="宋体" panose="02010600030101010101" pitchFamily="2" charset="-122"/>
            </a:endParaRPr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2"/>
          </p:nvPr>
        </p:nvSpPr>
        <p:spPr>
          <a:xfrm>
            <a:off x="5410200" y="304800"/>
            <a:ext cx="2667000" cy="227013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6019800" y="6477000"/>
            <a:ext cx="2895600" cy="298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BF519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Company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BF519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BF519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Logo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BF519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8400" y="579438"/>
            <a:ext cx="5410200" cy="563562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62000" y="1447800"/>
            <a:ext cx="8382000" cy="5029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28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BF5198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+mn-cs"/>
              </a:rPr>
              <a:t>Help  Hope  Holistic  Health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BF5198"/>
              </a:solidFill>
              <a:effectLst/>
              <a:uLnTx/>
              <a:uFillTx/>
              <a:latin typeface="Segoe Print" panose="02000600000000000000" pitchFamily="2" charset="0"/>
              <a:ea typeface="+mn-ea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5167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日期占位符 3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356350"/>
            <a:ext cx="2133600" cy="366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41B829F-60BB-4793-A903-82B568AB4552}" type="datetime1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400800"/>
            <a:ext cx="3581400" cy="298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BF5198"/>
              </a:solidFill>
              <a:effectLst/>
              <a:uLnTx/>
              <a:uFillTx/>
              <a:latin typeface="Segoe Print" panose="02000600000000000000" pitchFamily="2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356350"/>
            <a:ext cx="2133600" cy="366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标题和图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5167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1600201"/>
            <a:ext cx="8229600" cy="452543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28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0" name="日期占位符 3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356350"/>
            <a:ext cx="2133600" cy="366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9E48AEE-B64C-4AB1-B7F8-68051AC03EC0}" type="datetime1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400800"/>
            <a:ext cx="3581400" cy="298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BF5198"/>
              </a:solidFill>
              <a:effectLst/>
              <a:uLnTx/>
              <a:uFillTx/>
              <a:latin typeface="Segoe Print" panose="02000600000000000000" pitchFamily="2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356350"/>
            <a:ext cx="2133600" cy="366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563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4000500" cy="4876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47800"/>
            <a:ext cx="4000500" cy="4876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304800" y="6553200"/>
            <a:ext cx="2590800" cy="242888"/>
          </a:xfrm>
        </p:spPr>
        <p:txBody>
          <a:bodyPr/>
          <a:lstStyle>
            <a:lvl1pPr>
              <a:buFontTx/>
              <a:buNone/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4572000" y="6400800"/>
            <a:ext cx="3581400" cy="298450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FU LI QIN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3276600" y="6540500"/>
            <a:ext cx="2133600" cy="260350"/>
          </a:xfr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563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4000500" cy="4876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10100" y="1447800"/>
            <a:ext cx="4000500" cy="4876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28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304800" y="6553200"/>
            <a:ext cx="2590800" cy="242888"/>
          </a:xfrm>
        </p:spPr>
        <p:txBody>
          <a:bodyPr/>
          <a:lstStyle>
            <a:lvl1pPr>
              <a:buFontTx/>
              <a:buNone/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4572000" y="6400800"/>
            <a:ext cx="3581400" cy="298450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FU LI QIN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3276600" y="6540500"/>
            <a:ext cx="2133600" cy="260350"/>
          </a:xfr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563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00500" cy="4876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10100" y="1447800"/>
            <a:ext cx="4000500" cy="4876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304800" y="6553200"/>
            <a:ext cx="2590800" cy="242888"/>
          </a:xfrm>
        </p:spPr>
        <p:txBody>
          <a:bodyPr/>
          <a:lstStyle>
            <a:lvl1pPr>
              <a:buFontTx/>
              <a:buNone/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4572000" y="6400800"/>
            <a:ext cx="3581400" cy="298450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FU LI QIN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3276600" y="6540500"/>
            <a:ext cx="2133600" cy="260350"/>
          </a:xfr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buFontTx/>
              <a:buNone/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0" y="6400800"/>
            <a:ext cx="3581400" cy="298450"/>
          </a:xfrm>
          <a:prstGeom prst="rect">
            <a:avLst/>
          </a:prstGeom>
        </p:spPr>
        <p:txBody>
          <a:bodyPr/>
          <a:lstStyle>
            <a:lvl1pPr algn="ctr">
              <a:defRPr sz="1200" b="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5.png"/><Relationship Id="rId18" Type="http://schemas.openxmlformats.org/officeDocument/2006/relationships/image" Target="../media/image3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Oval 89"/>
          <p:cNvSpPr>
            <a:spLocks noChangeArrowheads="1"/>
          </p:cNvSpPr>
          <p:nvPr/>
        </p:nvSpPr>
        <p:spPr bwMode="white">
          <a:xfrm>
            <a:off x="152400" y="0"/>
            <a:ext cx="6804025" cy="6858000"/>
          </a:xfrm>
          <a:prstGeom prst="ellipse">
            <a:avLst/>
          </a:prstGeom>
          <a:gradFill rotWithShape="1">
            <a:gsLst>
              <a:gs pos="0">
                <a:schemeClr val="bg2">
                  <a:alpha val="44000"/>
                </a:schemeClr>
              </a:gs>
              <a:gs pos="100000">
                <a:schemeClr val="bg2">
                  <a:gamma/>
                  <a:tint val="0"/>
                  <a:invGamma/>
                  <a:alpha val="0"/>
                </a:schemeClr>
              </a:gs>
            </a:gsLst>
            <a:lin ang="0" scaled="1"/>
          </a:gra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27" name="Rectangle 90"/>
          <p:cNvSpPr>
            <a:spLocks noChangeArrowheads="1"/>
          </p:cNvSpPr>
          <p:nvPr/>
        </p:nvSpPr>
        <p:spPr bwMode="auto">
          <a:xfrm>
            <a:off x="0" y="549275"/>
            <a:ext cx="9144000" cy="6477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28" name="Rectangle 3"/>
          <p:cNvSpPr>
            <a:spLocks noGrp="1"/>
          </p:cNvSpPr>
          <p:nvPr>
            <p:ph type="body"/>
          </p:nvPr>
        </p:nvSpPr>
        <p:spPr>
          <a:xfrm>
            <a:off x="914400" y="1524000"/>
            <a:ext cx="6553200" cy="4724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 indent="-285750"/>
            <a:r>
              <a:rPr lang="en-US" altLang="zh-CN" dirty="0"/>
              <a:t>Second level</a:t>
            </a:r>
            <a:endParaRPr lang="en-US" altLang="zh-CN" dirty="0"/>
          </a:p>
          <a:p>
            <a:pPr lvl="2" indent="-228600"/>
            <a:r>
              <a:rPr lang="en-US" altLang="zh-CN" dirty="0"/>
              <a:t>Third level</a:t>
            </a:r>
            <a:endParaRPr lang="en-US" altLang="zh-CN" dirty="0"/>
          </a:p>
          <a:p>
            <a:pPr lvl="3" indent="-228600"/>
            <a:r>
              <a:rPr lang="en-US" altLang="zh-CN" dirty="0"/>
              <a:t>Fourth level</a:t>
            </a:r>
            <a:endParaRPr lang="en-US" altLang="zh-CN" dirty="0"/>
          </a:p>
          <a:p>
            <a:pPr lvl="4" indent="-228600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2"/>
          <p:cNvSpPr>
            <a:spLocks noGrp="1"/>
          </p:cNvSpPr>
          <p:nvPr>
            <p:ph type="title"/>
          </p:nvPr>
        </p:nvSpPr>
        <p:spPr>
          <a:xfrm>
            <a:off x="2438400" y="579438"/>
            <a:ext cx="5410200" cy="563562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pic>
        <p:nvPicPr>
          <p:cNvPr id="1030" name="图片 11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52400" y="228600"/>
            <a:ext cx="1295400" cy="1219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1" name="图片 56" descr="LOGO.png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848600" y="5105400"/>
            <a:ext cx="987425" cy="1090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2" name="图片 56" descr="图片包含 鲜花, 植物, 花瓶, 白色&#10;&#10;已生成极高可信度的说明"/>
          <p:cNvPicPr>
            <a:picLocks noChangeAspect="1"/>
          </p:cNvPicPr>
          <p:nvPr userDrawn="1"/>
        </p:nvPicPr>
        <p:blipFill>
          <a:blip r:embed="rId20" cstate="print"/>
          <a:stretch>
            <a:fillRect/>
          </a:stretch>
        </p:blipFill>
        <p:spPr>
          <a:xfrm>
            <a:off x="7543800" y="6172200"/>
            <a:ext cx="16002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页脚占位符 6"/>
          <p:cNvSpPr>
            <a:spLocks noGrp="1"/>
          </p:cNvSpPr>
          <p:nvPr>
            <p:ph type="ftr" sz="quarter" idx="3"/>
          </p:nvPr>
        </p:nvSpPr>
        <p:spPr>
          <a:xfrm>
            <a:off x="4572000" y="6400800"/>
            <a:ext cx="3581400" cy="29845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600" b="1">
                <a:solidFill>
                  <a:srgbClr val="BF5198"/>
                </a:solidFill>
                <a:latin typeface="Segoe Print" panose="02000600000000000000" pitchFamily="2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BF5198"/>
                </a:solidFill>
                <a:effectLst/>
                <a:uLnTx/>
                <a:uFillTx/>
                <a:latin typeface="Segoe Print" panose="02000600000000000000" pitchFamily="2" charset="0"/>
                <a:ea typeface="+mn-ea"/>
                <a:cs typeface="+mn-cs"/>
              </a:rPr>
              <a:t>Help  Hope  Holistic  Health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BF5198"/>
              </a:solidFill>
              <a:effectLst/>
              <a:uLnTx/>
              <a:uFillTx/>
              <a:latin typeface="Segoe Print" panose="02000600000000000000" pitchFamily="2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pn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jpeg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ctrTitle"/>
          </p:nvPr>
        </p:nvSpPr>
        <p:spPr>
          <a:xfrm>
            <a:off x="3001010" y="1447800"/>
            <a:ext cx="5537835" cy="2133600"/>
          </a:xfrm>
        </p:spPr>
        <p:txBody>
          <a:bodyPr/>
          <a:p>
            <a:r>
              <a:rPr lang="zh-CN" altLang="en-US" sz="3600"/>
              <a:t>阿尔兹海默病的安全管理</a:t>
            </a:r>
            <a:endParaRPr lang="zh-CN" altLang="en-US" sz="3600"/>
          </a:p>
        </p:txBody>
      </p:sp>
      <p:sp>
        <p:nvSpPr>
          <p:cNvPr id="3" name="文本框 2"/>
          <p:cNvSpPr txBox="1"/>
          <p:nvPr/>
        </p:nvSpPr>
        <p:spPr>
          <a:xfrm>
            <a:off x="4332605" y="4856480"/>
            <a:ext cx="3752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         十一病区：高蓓丽</a:t>
            </a:r>
            <a:r>
              <a:rPr lang="zh-CN" altLang="en-US" sz="2400" b="1">
                <a:solidFill>
                  <a:schemeClr val="bg1"/>
                </a:solidFill>
              </a:rPr>
              <a:t>      </a:t>
            </a:r>
            <a:endParaRPr lang="en-US" altLang="zh-CN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10" y="1461770"/>
            <a:ext cx="8840470" cy="24745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89885" y="627380"/>
            <a:ext cx="37388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zh-CN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世界阿尔兹海默病日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？</a:t>
            </a:r>
            <a:endParaRPr lang="zh-CN" altLang="en-US" sz="28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82445" y="3936365"/>
            <a:ext cx="595376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ctr" fontAlgn="auto">
              <a:lnSpc>
                <a:spcPct val="150000"/>
              </a:lnSpc>
            </a:pPr>
            <a:r>
              <a:rPr 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痴呆</a:t>
            </a:r>
            <a:r>
              <a:rPr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——</a:t>
            </a:r>
            <a:r>
              <a:rPr 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阿尔兹海默病（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AD)</a:t>
            </a:r>
            <a:endParaRPr lang="en-US" altLang="zh-CN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ea typeface="宋体" panose="02010600030101010101" pitchFamily="2" charset="-122"/>
              <a:sym typeface="+mn-ea"/>
            </a:endParaRPr>
          </a:p>
          <a:p>
            <a:pPr lvl="0" indent="0" algn="ctr" fontAlgn="auto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9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月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21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日</a:t>
            </a:r>
            <a:endParaRPr lang="zh-CN" altLang="en-US" sz="2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36165" y="4871085"/>
            <a:ext cx="549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 fontAlgn="auto">
              <a:lnSpc>
                <a:spcPct val="150000"/>
              </a:lnSpc>
              <a:buClrTx/>
              <a:buSzTx/>
              <a:buNone/>
            </a:pPr>
            <a:r>
              <a:rPr lang="zh-CN" sz="1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1910年“老年痴呆日”被命名为“阿尔兹海默病日”</a:t>
            </a:r>
            <a:endParaRPr lang="zh-CN" sz="1800" b="1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65" y="1677035"/>
            <a:ext cx="2801620" cy="350456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3079750" y="1778635"/>
            <a:ext cx="3329305" cy="31788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/>
          </a:p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4513580" y="2622550"/>
            <a:ext cx="631190" cy="1981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248910" y="2491105"/>
            <a:ext cx="1246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4860</a:t>
            </a:r>
            <a:r>
              <a:rPr lang="zh-CN" altLang="en-US" sz="2400" b="1"/>
              <a:t>万</a:t>
            </a:r>
            <a:endParaRPr lang="zh-CN" altLang="en-US" sz="2400" b="1"/>
          </a:p>
        </p:txBody>
      </p:sp>
      <p:sp>
        <p:nvSpPr>
          <p:cNvPr id="10" name="右箭头 9"/>
          <p:cNvSpPr/>
          <p:nvPr/>
        </p:nvSpPr>
        <p:spPr>
          <a:xfrm rot="5400000">
            <a:off x="5556250" y="3303905"/>
            <a:ext cx="631190" cy="1981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48910" y="3949065"/>
            <a:ext cx="919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/>
              <a:t>2050年</a:t>
            </a:r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 rot="10800000">
            <a:off x="4513580" y="4034155"/>
            <a:ext cx="631190" cy="1981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11525" y="3949065"/>
            <a:ext cx="982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/>
              <a:t>1.315亿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202305" y="2491105"/>
            <a:ext cx="12014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/>
              <a:t>2015年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220845" y="1940560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/>
              <a:t>全球</a:t>
            </a:r>
            <a:endParaRPr lang="zh-CN" altLang="en-US" sz="2800" b="1"/>
          </a:p>
        </p:txBody>
      </p:sp>
      <p:sp>
        <p:nvSpPr>
          <p:cNvPr id="16" name="圆角矩形 15"/>
          <p:cNvSpPr/>
          <p:nvPr/>
        </p:nvSpPr>
        <p:spPr>
          <a:xfrm>
            <a:off x="6692265" y="1813560"/>
            <a:ext cx="2093595" cy="31083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/>
          </a:p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922135" y="2127250"/>
            <a:ext cx="1612900" cy="26460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/>
              <a:t>目前中国</a:t>
            </a:r>
            <a:r>
              <a:rPr lang="zh-CN" altLang="en-US"/>
              <a:t>  </a:t>
            </a:r>
            <a:endParaRPr lang="zh-CN" altLang="en-US"/>
          </a:p>
          <a:p>
            <a:endParaRPr lang="zh-CN" altLang="en-US" sz="2800" b="1"/>
          </a:p>
          <a:p>
            <a:r>
              <a:rPr lang="zh-CN" altLang="en-US" sz="2800" b="1"/>
              <a:t> 1500万</a:t>
            </a:r>
            <a:endParaRPr lang="zh-CN" altLang="en-US" sz="2800" b="1"/>
          </a:p>
          <a:p>
            <a:endParaRPr lang="zh-CN" altLang="en-US"/>
          </a:p>
          <a:p>
            <a:r>
              <a:rPr lang="en-US" altLang="zh-CN"/>
              <a:t>     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 </a:t>
            </a:r>
            <a:r>
              <a:rPr lang="zh-CN" altLang="en-US" sz="2800" b="1"/>
              <a:t>30万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896995" y="680085"/>
            <a:ext cx="18732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发病趋势</a:t>
            </a:r>
            <a:endParaRPr lang="zh-CN" altLang="en-US" sz="28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0" name="右箭头 19"/>
          <p:cNvSpPr/>
          <p:nvPr/>
        </p:nvSpPr>
        <p:spPr>
          <a:xfrm rot="16200000">
            <a:off x="7265670" y="3699510"/>
            <a:ext cx="631190" cy="1981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64540" y="1788795"/>
            <a:ext cx="777303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 eaLnBrk="1" hangingPunct="1">
              <a:lnSpc>
                <a:spcPct val="150000"/>
              </a:lnSpc>
              <a:spcBef>
                <a:spcPct val="0"/>
              </a:spcBef>
              <a:buClr>
                <a:srgbClr val="515151"/>
              </a:buClr>
              <a:buSzPct val="80000"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痴呆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是一种以获得性</a:t>
            </a:r>
            <a:r>
              <a:rPr lang="zh-CN" altLang="en-US" sz="2000" u="sng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认知功能损害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为核心，并导致患者</a:t>
            </a:r>
            <a:r>
              <a:rPr lang="zh-CN" altLang="en-US" sz="2000" u="sng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日常</a:t>
            </a:r>
            <a:endParaRPr lang="zh-CN" altLang="en-US" sz="2000" u="sng" dirty="0"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  <a:buClr>
                <a:srgbClr val="515151"/>
              </a:buClr>
              <a:buSzPct val="80000"/>
              <a:buFont typeface="Arial" panose="020B0604020202020204" pitchFamily="34" charset="0"/>
              <a:buNone/>
            </a:pPr>
            <a:r>
              <a:rPr lang="zh-CN" altLang="en-US" sz="2000" u="sng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生活能力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、</a:t>
            </a:r>
            <a:r>
              <a:rPr lang="zh-CN" altLang="en-US" sz="2000" u="sng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学习能力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、</a:t>
            </a:r>
            <a:r>
              <a:rPr lang="zh-CN" altLang="en-US" sz="2000" u="sng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工作能力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和</a:t>
            </a:r>
            <a:r>
              <a:rPr lang="zh-CN" altLang="en-US" sz="2000" u="sng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社会交往能力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明显减退的综合征。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  <a:buClr>
                <a:srgbClr val="515151"/>
              </a:buClr>
              <a:buSzPct val="80000"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      认知功能损害涉及记忆、学习、定向、理解、判断、计算、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  <a:buClr>
                <a:srgbClr val="515151"/>
              </a:buClr>
              <a:buSzPct val="80000"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语言、视空间功能、分析及解决问题等能力，在病程某一阶段常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  <a:buClr>
                <a:srgbClr val="515151"/>
              </a:buClr>
              <a:buSzPct val="80000"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伴有精神、行为和人格异常。</a:t>
            </a:r>
            <a:endParaRPr lang="zh-CN" altLang="en-US" sz="2000" dirty="0"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sym typeface="+mn-ea"/>
            </a:endParaRP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  <a:buClr>
                <a:srgbClr val="515151"/>
              </a:buClr>
              <a:buSzPct val="80000"/>
              <a:buFont typeface="Arial" panose="020B0604020202020204" pitchFamily="34" charset="0"/>
              <a:buNone/>
            </a:pPr>
            <a:endParaRPr lang="zh-CN" altLang="en-US" sz="2000"/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  <a:buClr>
                <a:srgbClr val="515151"/>
              </a:buClr>
              <a:buSzPct val="80000"/>
              <a:buFont typeface="Arial" panose="020B0604020202020204" pitchFamily="34" charset="0"/>
              <a:buNone/>
            </a:pP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3606800" y="448945"/>
            <a:ext cx="1253490" cy="73723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p>
            <a:pPr lvl="0" indent="0" algn="ctr" fontAlgn="auto">
              <a:lnSpc>
                <a:spcPct val="150000"/>
              </a:lnSpc>
            </a:pPr>
            <a:r>
              <a:rPr lang="en-US" altLang="zh-CN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   </a:t>
            </a:r>
            <a:r>
              <a:rPr lang="zh-CN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痴 呆</a:t>
            </a:r>
            <a:endParaRPr lang="zh-CN" altLang="en-US" sz="2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imes New Roman" panose="02020603050405020304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9420" y="3845560"/>
            <a:ext cx="3647440" cy="3012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238885" y="1468120"/>
            <a:ext cx="7201535" cy="12490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eaLnBrk="1" hangingPunct="1">
              <a:lnSpc>
                <a:spcPct val="150000"/>
              </a:lnSpc>
              <a:spcBef>
                <a:spcPct val="0"/>
              </a:spcBef>
              <a:buClr>
                <a:srgbClr val="515151"/>
              </a:buClr>
              <a:buSzPct val="80000"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阿尔茨海默病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(AD)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致残率高，患者</a:t>
            </a:r>
            <a:r>
              <a:rPr lang="zh-CN" altLang="en-US" sz="2000" b="1" u="sng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晚期丧失独立生活能力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，完全需要他人照料，给社会和家庭带来了沉重的经济负担和护理负担。</a:t>
            </a:r>
            <a:endParaRPr lang="zh-CN" altLang="en-US" sz="20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885" y="3516630"/>
            <a:ext cx="7202170" cy="1492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" y="1410335"/>
            <a:ext cx="3570605" cy="2498090"/>
          </a:xfrm>
          <a:prstGeom prst="rect">
            <a:avLst/>
          </a:prstGeom>
        </p:spPr>
      </p:pic>
      <p:pic>
        <p:nvPicPr>
          <p:cNvPr id="4" name="图片 3" descr="微信图片_201909182142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030" y="1410335"/>
            <a:ext cx="3821430" cy="2409825"/>
          </a:xfrm>
          <a:prstGeom prst="rect">
            <a:avLst/>
          </a:prstGeom>
        </p:spPr>
      </p:pic>
      <p:pic>
        <p:nvPicPr>
          <p:cNvPr id="13" name="图片 12" descr="微信图片_20190918214942"/>
          <p:cNvPicPr>
            <a:picLocks noChangeAspect="1"/>
          </p:cNvPicPr>
          <p:nvPr/>
        </p:nvPicPr>
        <p:blipFill>
          <a:blip r:embed="rId3"/>
          <a:srcRect b="60253"/>
          <a:stretch>
            <a:fillRect/>
          </a:stretch>
        </p:blipFill>
        <p:spPr>
          <a:xfrm>
            <a:off x="338455" y="3961130"/>
            <a:ext cx="2752090" cy="28968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466340" y="690245"/>
            <a:ext cx="57531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“</a:t>
            </a:r>
            <a:r>
              <a:rPr lang="zh-CN" altLang="en-US" sz="28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我得了一个大病</a:t>
            </a:r>
            <a:r>
              <a:rPr lang="en-US" altLang="zh-CN" sz="28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——</a:t>
            </a:r>
            <a:r>
              <a:rPr lang="zh-CN" altLang="en-US" sz="28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阿尔兹海默症</a:t>
            </a:r>
            <a:r>
              <a:rPr lang="en-US" altLang="zh-CN" sz="28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”</a:t>
            </a:r>
            <a:endParaRPr lang="en-US" altLang="zh-CN" sz="28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625" y="3961130"/>
            <a:ext cx="3260090" cy="2867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53515" y="630555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前言</a:t>
            </a:r>
            <a:endParaRPr lang="zh-CN" altLang="en-US" sz="2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9290" y="1536700"/>
            <a:ext cx="312674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None/>
            </a:pPr>
            <a:r>
              <a:rPr lang="zh-CN" altLang="en-US" sz="2000" dirty="0" smtClean="0">
                <a:sym typeface="+mn-ea"/>
              </a:rPr>
              <a:t>进入</a:t>
            </a:r>
            <a:r>
              <a:rPr lang="en-US" sz="2000" dirty="0" smtClean="0">
                <a:sym typeface="+mn-ea"/>
              </a:rPr>
              <a:t>21</a:t>
            </a:r>
            <a:r>
              <a:rPr lang="zh-CN" altLang="en-US" sz="2000" dirty="0" smtClean="0">
                <a:sym typeface="+mn-ea"/>
              </a:rPr>
              <a:t>世纪，人口老龄化已成为全球极为关注而又必须解决的重大课题，面对这来势凶猛的“银色浪潮”，越来越引起全社会的重视。</a:t>
            </a:r>
            <a:endParaRPr lang="en-US" altLang="zh-CN" sz="2000" dirty="0" smtClean="0"/>
          </a:p>
          <a:p>
            <a:pPr algn="l">
              <a:buNone/>
            </a:pPr>
            <a:r>
              <a:rPr lang="en-US" altLang="zh-CN" sz="2000" dirty="0" smtClean="0">
                <a:sym typeface="+mn-ea"/>
              </a:rPr>
              <a:t>     </a:t>
            </a:r>
            <a:r>
              <a:rPr lang="zh-CN" altLang="en-US" sz="2000" dirty="0" smtClean="0">
                <a:sym typeface="+mn-ea"/>
              </a:rPr>
              <a:t>因老年患者各器官功能减退，感觉、认知迟钝，加之住院期间环境的改变，更容易发生跌倒、误吸、走失等意外事件，因此，加强对老年患者的护理安全管理显得尤为重要。</a:t>
            </a:r>
            <a:endParaRPr lang="zh-CN" altLang="en-US" sz="2000"/>
          </a:p>
        </p:txBody>
      </p:sp>
      <p:pic>
        <p:nvPicPr>
          <p:cNvPr id="5" name="图片 4" descr="微信图片_202012091407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0695" y="1536700"/>
            <a:ext cx="3728720" cy="4297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50975" y="571500"/>
            <a:ext cx="5745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800" b="1" dirty="0" smtClean="0">
                <a:latin typeface="Open Sans" panose="020B0606030504020204" pitchFamily="34" charset="0"/>
                <a:ea typeface="宋体" panose="02010600030101010101" pitchFamily="2" charset="-122"/>
                <a:cs typeface="Open Sans" panose="020B0606030504020204" pitchFamily="34" charset="0"/>
                <a:sym typeface="+mn-ea"/>
              </a:rPr>
              <a:t>AD</a:t>
            </a:r>
            <a:r>
              <a:rPr lang="zh-CN" altLang="en-US" sz="2800" b="1" dirty="0" smtClean="0">
                <a:latin typeface="Open Sans" panose="020B0606030504020204" pitchFamily="34" charset="0"/>
                <a:ea typeface="宋体" panose="02010600030101010101" pitchFamily="2" charset="-122"/>
                <a:cs typeface="Open Sans" panose="020B0606030504020204" pitchFamily="34" charset="0"/>
                <a:sym typeface="+mn-ea"/>
              </a:rPr>
              <a:t>患者的安全问题主要有哪些呢？</a:t>
            </a:r>
            <a:endParaRPr lang="zh-CN" altLang="en-US" sz="2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450975" y="1980565"/>
            <a:ext cx="4388485" cy="36264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一、预防跌倒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坠床的措施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二、预防噎食、误吸的措施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三、预防压力性损伤的措施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四、安全用药的护理措施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五、防走失的措施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六、防自伤或他伤等的措施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9910" y="444659"/>
            <a:ext cx="7886700" cy="994410"/>
          </a:xfrm>
        </p:spPr>
        <p:txBody>
          <a:bodyPr/>
          <a:lstStyle/>
          <a:p>
            <a:r>
              <a:rPr lang="zh-CN" altLang="en-US" dirty="0" smtClean="0"/>
              <a:t> 安全管理之防止跌倒</a:t>
            </a:r>
            <a:r>
              <a:rPr lang="en-US" altLang="zh-CN" dirty="0" smtClean="0"/>
              <a:t>/</a:t>
            </a:r>
            <a:r>
              <a:rPr lang="zh-CN" altLang="en-US" dirty="0" smtClean="0"/>
              <a:t>坠床</a:t>
            </a:r>
            <a:endParaRPr lang="en-US" altLang="zh-CN" sz="27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5180" y="1847850"/>
            <a:ext cx="7631430" cy="4032250"/>
          </a:xfrm>
        </p:spPr>
        <p:txBody>
          <a:bodyPr>
            <a:noAutofit/>
          </a:bodyPr>
          <a:lstStyle/>
          <a:p>
            <a:pPr algn="l">
              <a:buNone/>
            </a:pPr>
            <a:r>
              <a:rPr 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、认真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高危跌倒患者，</a:t>
            </a:r>
            <a:r>
              <a:rPr lang="zh-CN" altLang="en-US" sz="1600" u="sng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重点关注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，制定措施，并在床头、手腕带上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做好标识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16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None/>
            </a:pPr>
            <a:r>
              <a:rPr 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、让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新入院患者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尽快熟悉病房环境，地板无积水，光线充足，介绍厕所、浴室</a:t>
            </a:r>
            <a:r>
              <a:rPr lang="zh-CN" altLang="en-US" sz="1600" u="sng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</a:t>
            </a:r>
            <a:r>
              <a:rPr lang="en-US" altLang="zh-CN" sz="1600" u="sng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600" u="sng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全扶手、报警按钮位置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。患者的衣裤合适，穿</a:t>
            </a:r>
            <a:r>
              <a:rPr lang="zh-CN" altLang="en-US" sz="1600" u="sng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防滑鞋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，行动不便者使用助行器，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起夜</a:t>
            </a:r>
            <a:r>
              <a:rPr lang="zh-CN" altLang="en-US" sz="1600" u="sng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床边放置坐便器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16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None/>
            </a:pPr>
            <a:r>
              <a:rPr 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、告知患者变换体位时速度应慢，要做到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三个</a:t>
            </a:r>
            <a:r>
              <a:rPr lang="en-US" sz="16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秒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，醒后</a:t>
            </a:r>
            <a:r>
              <a:rPr 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 s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再起床，起床后</a:t>
            </a:r>
            <a:r>
              <a:rPr 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   </a:t>
            </a:r>
            <a:endParaRPr lang="en-US" sz="16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None/>
            </a:pPr>
            <a:r>
              <a:rPr 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s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再站立，站立</a:t>
            </a:r>
            <a:r>
              <a:rPr 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 s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后再行走。</a:t>
            </a:r>
            <a:endParaRPr lang="zh-CN" altLang="en-US" sz="16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None/>
            </a:pPr>
            <a:r>
              <a:rPr 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意识障碍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或神志模糊的患者应有家属或护工陪护，应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拉起床栏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，防止患者坠床</a:t>
            </a:r>
            <a:endParaRPr lang="zh-CN" altLang="en-US" sz="16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摔伤。</a:t>
            </a:r>
            <a:endParaRPr lang="zh-CN" altLang="en-US" sz="16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None/>
            </a:pPr>
            <a:r>
              <a:rPr 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、躁动的患者应用约束带，必要时遵医嘱用镇静剂。</a:t>
            </a:r>
            <a:endParaRPr lang="zh-CN" altLang="en-US" sz="16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在输液治疗过程中，服用易跌倒药物时，进行重点宣教。</a:t>
            </a:r>
            <a:endParaRPr lang="zh-CN" altLang="en-US" sz="16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、增强肌肉骨骼的力量：①饮食：补充钙、维生素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、蛋白质；②：适当运动</a:t>
            </a:r>
            <a:br>
              <a:rPr lang="en-US" sz="1725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sz="1725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endParaRPr lang="en-US" altLang="en-US" sz="975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10153" t="14304" r="4735" b="11576"/>
          <a:stretch>
            <a:fillRect/>
          </a:stretch>
        </p:blipFill>
        <p:spPr>
          <a:xfrm>
            <a:off x="1269365" y="5242560"/>
            <a:ext cx="2013585" cy="11925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 安全管理之预防</a:t>
            </a:r>
            <a:r>
              <a:rPr lang="zh-CN" altLang="en-US" dirty="0" smtClean="0">
                <a:latin typeface="+mn-ea"/>
              </a:rPr>
              <a:t>噎食、误吸</a:t>
            </a:r>
            <a:endParaRPr lang="en-US" altLang="zh-CN" sz="2700" dirty="0" smtClean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821055" y="2100263"/>
            <a:ext cx="1285875" cy="306181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2100">
                <a:solidFill>
                  <a:schemeClr val="tx1"/>
                </a:solidFill>
              </a:rPr>
              <a:t>噎食的临床表现</a:t>
            </a:r>
            <a:endParaRPr lang="zh-CN" altLang="en-US" sz="21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26030" y="2125504"/>
            <a:ext cx="144922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停止进食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3847148" y="3412331"/>
            <a:ext cx="144922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面色青紫</a:t>
            </a:r>
            <a:endParaRPr lang="zh-CN" altLang="en-US" sz="2400"/>
          </a:p>
        </p:txBody>
      </p:sp>
      <p:sp>
        <p:nvSpPr>
          <p:cNvPr id="9" name="文本框 8"/>
          <p:cNvSpPr txBox="1"/>
          <p:nvPr/>
        </p:nvSpPr>
        <p:spPr>
          <a:xfrm>
            <a:off x="5153501" y="4605814"/>
            <a:ext cx="145970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意识丧失</a:t>
            </a: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2849" r="-1916" b="-3148"/>
          <a:stretch>
            <a:fillRect/>
          </a:stretch>
        </p:blipFill>
        <p:spPr>
          <a:xfrm>
            <a:off x="3975259" y="1860233"/>
            <a:ext cx="2261235" cy="135778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376" y="3059906"/>
            <a:ext cx="1519714" cy="1143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208" y="4165759"/>
            <a:ext cx="1969770" cy="14444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 安全管理之预防</a:t>
            </a:r>
            <a:r>
              <a:rPr lang="zh-CN" altLang="en-US" dirty="0" smtClean="0">
                <a:latin typeface="+mn-ea"/>
              </a:rPr>
              <a:t>噎食、误吸</a:t>
            </a:r>
            <a:endParaRPr lang="en-US" altLang="zh-CN" sz="2700" dirty="0" smtClean="0">
              <a:latin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6731" y="2100263"/>
            <a:ext cx="7873841" cy="3611404"/>
          </a:xfrm>
        </p:spPr>
        <p:txBody>
          <a:bodyPr>
            <a:normAutofit fontScale="60000"/>
          </a:bodyPr>
          <a:lstStyle/>
          <a:p>
            <a:pPr>
              <a:buNone/>
            </a:pPr>
            <a:br>
              <a:rPr lang="en-US" dirty="0" smtClean="0"/>
            </a:br>
            <a:r>
              <a:rPr lang="en-US" dirty="0" smtClean="0"/>
              <a:t> 1</a:t>
            </a:r>
            <a:r>
              <a:rPr lang="zh-CN" altLang="en-US" dirty="0" smtClean="0"/>
              <a:t>、能</a:t>
            </a:r>
            <a:r>
              <a:rPr lang="zh-CN" altLang="en-US" b="1" dirty="0" smtClean="0"/>
              <a:t>自理的患者</a:t>
            </a:r>
            <a:r>
              <a:rPr lang="zh-CN" altLang="en-US" dirty="0" smtClean="0"/>
              <a:t>，应鼓励患者自行进食，食物以小块为宜，对一些食物尽量不吃，比如坚果、汤圆、粽子、果冻等；对于咀嚼和吞咽功能障碍者应根据吞咽功能评估情况选用流质、糊状食物等饮食，并指导患者采用适宜的进食体位，最好取</a:t>
            </a:r>
            <a:r>
              <a:rPr lang="zh-CN" altLang="en-US" b="1" dirty="0" smtClean="0"/>
              <a:t>坐位</a:t>
            </a:r>
            <a:r>
              <a:rPr lang="zh-CN" altLang="en-US" dirty="0" smtClean="0"/>
              <a:t>进食，必要时采用坐位低头吞咽的进食姿势。</a:t>
            </a:r>
            <a:br>
              <a:rPr lang="en-US" dirty="0" smtClean="0"/>
            </a:br>
            <a:r>
              <a:rPr lang="en-US" dirty="0" smtClean="0"/>
              <a:t> 2</a:t>
            </a:r>
            <a:r>
              <a:rPr lang="zh-CN" altLang="en-US" dirty="0" smtClean="0"/>
              <a:t>、对于生活自理能力差、病情较重者，应协助患者进食。应将食物从</a:t>
            </a:r>
            <a:r>
              <a:rPr lang="zh-CN" altLang="en-US" b="1" dirty="0" smtClean="0"/>
              <a:t>健侧放入</a:t>
            </a:r>
            <a:r>
              <a:rPr lang="zh-CN" altLang="en-US" dirty="0" smtClean="0"/>
              <a:t>，尽量送到舌根部，以免呛咳。进食后指导患者保持坐位</a:t>
            </a:r>
            <a:r>
              <a:rPr lang="en-US" dirty="0" smtClean="0"/>
              <a:t>30min</a:t>
            </a:r>
            <a:r>
              <a:rPr lang="zh-CN" altLang="en-US" dirty="0" smtClean="0"/>
              <a:t>以上，并协助患者</a:t>
            </a:r>
            <a:r>
              <a:rPr lang="zh-CN" altLang="en-US" b="1" dirty="0" smtClean="0"/>
              <a:t>漱口</a:t>
            </a:r>
            <a:r>
              <a:rPr lang="zh-CN" altLang="en-US" dirty="0" smtClean="0"/>
              <a:t>，防止食物残渣遗留在口腔内引起误吸及口腔感染。</a:t>
            </a:r>
            <a:br>
              <a:rPr lang="en-US" dirty="0" smtClean="0"/>
            </a:br>
            <a:r>
              <a:rPr lang="en-US" dirty="0" smtClean="0"/>
              <a:t> 3</a:t>
            </a:r>
            <a:r>
              <a:rPr lang="zh-CN" altLang="en-US" dirty="0" smtClean="0"/>
              <a:t>、对于进食困难，洼田饮水试验评估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Ⅳ</a:t>
            </a:r>
            <a:r>
              <a:rPr lang="zh-CN" altLang="en-US">
                <a:sym typeface="+mn-ea"/>
              </a:rPr>
              <a:t>级</a:t>
            </a:r>
            <a:r>
              <a:rPr lang="zh-CN" altLang="en-US" dirty="0" smtClean="0"/>
              <a:t>以上的患者建议给予</a:t>
            </a:r>
            <a:r>
              <a:rPr lang="zh-CN" altLang="en-US" b="1" dirty="0" smtClean="0"/>
              <a:t>鼻饲</a:t>
            </a:r>
            <a:r>
              <a:rPr lang="zh-CN" altLang="en-US" dirty="0" smtClean="0"/>
              <a:t>，做好相应护理，防止经口进食引起误吸或吸入性肺炎。</a:t>
            </a:r>
            <a:endParaRPr lang="zh-CN" altLang="en-US" dirty="0" smtClean="0"/>
          </a:p>
          <a:p>
            <a:pPr>
              <a:buNone/>
            </a:pPr>
            <a:r>
              <a:rPr lang="zh-CN" altLang="en-US" dirty="0" smtClean="0"/>
              <a:t> </a:t>
            </a:r>
            <a:r>
              <a:rPr lang="en-US" altLang="zh-CN" dirty="0" smtClean="0"/>
              <a:t>  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834" y="4860925"/>
            <a:ext cx="2006441" cy="13844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 安全管理之预防</a:t>
            </a:r>
            <a:r>
              <a:rPr lang="zh-CN" altLang="en-US" dirty="0" smtClean="0">
                <a:latin typeface="+mn-ea"/>
                <a:sym typeface="+mn-ea"/>
              </a:rPr>
              <a:t>压力性损伤</a:t>
            </a:r>
            <a:endParaRPr lang="en-US" altLang="zh-CN" sz="2700" dirty="0" smtClean="0">
              <a:latin typeface="+mn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0395" y="1372711"/>
            <a:ext cx="7761923" cy="3743325"/>
          </a:xfrm>
        </p:spPr>
        <p:txBody>
          <a:bodyPr>
            <a:noAutofit/>
          </a:bodyPr>
          <a:lstStyle/>
          <a:p>
            <a:pPr>
              <a:buNone/>
            </a:pPr>
            <a:br>
              <a:rPr lang="en-US" sz="1725" dirty="0" smtClean="0"/>
            </a:br>
            <a:r>
              <a:rPr lang="en-US" sz="1725" dirty="0" smtClean="0"/>
              <a:t> 1</a:t>
            </a:r>
            <a:r>
              <a:rPr lang="zh-CN" altLang="en-US" sz="1725" dirty="0" smtClean="0"/>
              <a:t>、</a:t>
            </a:r>
            <a:r>
              <a:rPr lang="zh-CN" altLang="en-US" sz="1725" b="1" dirty="0" smtClean="0"/>
              <a:t>营养不良</a:t>
            </a:r>
            <a:r>
              <a:rPr lang="zh-CN" altLang="en-US" sz="1725" dirty="0" smtClean="0"/>
              <a:t>是发生压力性损伤的最重要的危险因素之一，而低白蛋白血症是发生压力性损伤的一个先前原因，有报道血清白蛋白</a:t>
            </a:r>
            <a:r>
              <a:rPr lang="en-US" sz="1725" dirty="0" smtClean="0"/>
              <a:t>&lt;35g/L</a:t>
            </a:r>
            <a:r>
              <a:rPr lang="zh-CN" altLang="en-US" sz="1725" dirty="0" smtClean="0"/>
              <a:t>者发生压力性损伤的可能性是对照组的</a:t>
            </a:r>
            <a:r>
              <a:rPr lang="en-US" sz="1725" dirty="0" smtClean="0"/>
              <a:t>5</a:t>
            </a:r>
            <a:r>
              <a:rPr lang="zh-CN" altLang="en-US" sz="1725" dirty="0" smtClean="0"/>
              <a:t>倍。</a:t>
            </a:r>
            <a:br>
              <a:rPr lang="en-US" sz="1725" dirty="0" smtClean="0"/>
            </a:br>
            <a:r>
              <a:rPr lang="en-US" sz="1725" dirty="0" smtClean="0"/>
              <a:t>2</a:t>
            </a:r>
            <a:r>
              <a:rPr lang="zh-CN" altLang="en-US" sz="1725" dirty="0" smtClean="0"/>
              <a:t>、长期卧床、大小便失禁的老年患者亦容易发生压力性损伤。</a:t>
            </a:r>
            <a:br>
              <a:rPr lang="en-US" sz="1725" dirty="0" smtClean="0"/>
            </a:br>
            <a:r>
              <a:rPr lang="en-US" sz="1725" dirty="0" smtClean="0"/>
              <a:t>3</a:t>
            </a:r>
            <a:r>
              <a:rPr lang="zh-CN" altLang="en-US" sz="1725" dirty="0" smtClean="0"/>
              <a:t>、正确使用减压设备，能有效预防压力性损伤的发生</a:t>
            </a:r>
            <a:r>
              <a:rPr lang="en-US" sz="1725" dirty="0" smtClean="0"/>
              <a:t>;</a:t>
            </a:r>
            <a:r>
              <a:rPr lang="zh-CN" altLang="en-US" sz="1725" dirty="0" smtClean="0"/>
              <a:t>另外，定时翻身，减少组织的压力，切忌拖、拉，正确使用石膏、夹板固定，保持床单干燥清洁，保持患者会阴部、肛周皮肤清洁干燥，加强营养改善患者机体营养状况等，均能有效减少压力性损伤的发生。</a:t>
            </a:r>
            <a:br>
              <a:rPr lang="en-US" sz="1725" dirty="0" smtClean="0"/>
            </a:br>
            <a:r>
              <a:rPr lang="en-US" sz="1725" dirty="0" smtClean="0"/>
              <a:t>4</a:t>
            </a:r>
            <a:r>
              <a:rPr lang="zh-CN" altLang="en-US" sz="1725" dirty="0" smtClean="0"/>
              <a:t>、加强家属、陪护教育，指导翻身、皮肤护理等知识，强调卧床期间</a:t>
            </a:r>
            <a:r>
              <a:rPr lang="zh-CN" altLang="en-US" sz="1725" b="1" dirty="0" smtClean="0"/>
              <a:t>加强翻身和皮肤清洁护理</a:t>
            </a:r>
            <a:r>
              <a:rPr lang="zh-CN" altLang="en-US" sz="1725" dirty="0" smtClean="0"/>
              <a:t>等，对压力性损伤的预防有明显的作用。</a:t>
            </a:r>
            <a:endParaRPr lang="en-US" altLang="zh-CN" sz="1725" dirty="0" smtClean="0"/>
          </a:p>
          <a:p>
            <a:pPr>
              <a:buNone/>
            </a:pPr>
            <a:endParaRPr lang="en-US" altLang="zh-CN" sz="1725" dirty="0" smtClean="0"/>
          </a:p>
          <a:p>
            <a:pPr>
              <a:buNone/>
            </a:pPr>
            <a:r>
              <a:rPr lang="en-US" altLang="zh-CN" sz="1725" dirty="0" smtClean="0"/>
              <a:t>        </a:t>
            </a:r>
            <a:r>
              <a:rPr lang="zh-CN" altLang="en-US" sz="1725" dirty="0" smtClean="0"/>
              <a:t>护理人员的责任心和工作主动性是预防压力性损伤的</a:t>
            </a:r>
            <a:r>
              <a:rPr lang="zh-CN" altLang="en-US" sz="1725" b="1" dirty="0" smtClean="0"/>
              <a:t>关键</a:t>
            </a:r>
            <a:r>
              <a:rPr lang="zh-CN" altLang="en-US" sz="1725" dirty="0" smtClean="0"/>
              <a:t>，及早发现压力性损伤先兆，并实行有效的护理措施，可减少压力性损伤的发生。</a:t>
            </a:r>
            <a:br>
              <a:rPr lang="en-US" sz="1725" dirty="0" smtClean="0"/>
            </a:br>
            <a:br>
              <a:rPr lang="en-US" sz="1725" dirty="0" smtClean="0"/>
            </a:br>
            <a:endParaRPr lang="en-US" altLang="en-US" sz="1200" dirty="0" smtClean="0"/>
          </a:p>
        </p:txBody>
      </p:sp>
      <p:pic>
        <p:nvPicPr>
          <p:cNvPr id="4" name="Picture 2" descr="http://i.serengeseba.com/uploads/i_1_1845350984x1049321093_26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676400" y="5358448"/>
            <a:ext cx="2443163" cy="1357313"/>
          </a:xfrm>
          <a:prstGeom prst="rect">
            <a:avLst/>
          </a:prstGeom>
          <a:noFill/>
        </p:spPr>
      </p:pic>
      <p:sp>
        <p:nvSpPr>
          <p:cNvPr id="5" name="太阳形 4"/>
          <p:cNvSpPr/>
          <p:nvPr/>
        </p:nvSpPr>
        <p:spPr>
          <a:xfrm>
            <a:off x="862965" y="4816316"/>
            <a:ext cx="298609" cy="369570"/>
          </a:xfrm>
          <a:prstGeom prst="sun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65275" y="645795"/>
            <a:ext cx="340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如何做好药物治疗？</a:t>
            </a:r>
            <a:endParaRPr lang="zh-CN" altLang="en-US" sz="2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4" name="图片 3" descr="活动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99870" y="4414520"/>
            <a:ext cx="2501900" cy="18764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445" y="4414520"/>
            <a:ext cx="2531110" cy="18713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35355" y="1562100"/>
            <a:ext cx="7465060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、老年人常患有好几种疾病，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服用药物种类多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，需要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多次、反复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向患者及家属、陪护说明用法。</a:t>
            </a:r>
            <a:br>
              <a:rPr 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、内服与外用药应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分开放置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，注明开启、失效时间，标记清楚。观察药物的作用和不良反应。</a:t>
            </a:r>
            <a:br>
              <a:rPr 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、肌肉静脉给药时，无特殊要求输液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速度不宜过快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，边注射边观察。</a:t>
            </a:r>
            <a:endParaRPr lang="zh-CN" altLang="en-US" sz="16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、认真落实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患者的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身份识别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，避免错发药物。</a:t>
            </a:r>
            <a:endParaRPr lang="zh-CN" altLang="en-US" sz="16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、护士掌握常用药物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服药时间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，如餐前半小时：奥美拉唑、吗丁啉、莫沙必利、格列吡嗪；随餐第一口嚼服：拜糖平；随餐或餐后服：二甲双胍；宜饭前服：肠溶阿司匹林、美多芭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...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16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、落实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服药到口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，避免老年患者藏药、漏服、错服、外包装打开过程中掉落药物、服药方法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时间错误、哽咽甚至窒息。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86535" y="622300"/>
            <a:ext cx="3383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800" dirty="0" smtClean="0">
                <a:sym typeface="+mn-ea"/>
              </a:rPr>
              <a:t>安全管理之预防走失</a:t>
            </a:r>
            <a:endParaRPr lang="en-US" altLang="zh-CN" sz="28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4575" y="1570355"/>
            <a:ext cx="4091940" cy="38461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None/>
            </a:pPr>
            <a:r>
              <a:rPr lang="zh-CN" altLang="en-US" sz="2400" dirty="0" smtClean="0">
                <a:sym typeface="+mn-ea"/>
              </a:rPr>
              <a:t> </a:t>
            </a:r>
            <a:r>
              <a:rPr lang="zh-CN" altLang="en-US" sz="2000" dirty="0" smtClean="0">
                <a:sym typeface="+mn-ea"/>
              </a:rPr>
              <a:t> 老年人由于机体各器官功能随年龄的增长而衰退，出现耳聋眼花、感觉迟钝、行动缓慢、</a:t>
            </a:r>
            <a:r>
              <a:rPr lang="zh-CN" altLang="en-US" sz="2000" b="1" dirty="0" smtClean="0">
                <a:sym typeface="+mn-ea"/>
              </a:rPr>
              <a:t>认知功能障碍</a:t>
            </a:r>
            <a:r>
              <a:rPr lang="zh-CN" altLang="en-US" sz="2000" dirty="0" smtClean="0">
                <a:sym typeface="+mn-ea"/>
              </a:rPr>
              <a:t>等各方面的问题，直接影响着老年人的安全，使意外事故高于其他成年人。</a:t>
            </a:r>
            <a:endParaRPr lang="zh-CN" altLang="en-US" sz="2000" dirty="0" smtClean="0"/>
          </a:p>
          <a:p>
            <a:pPr algn="l">
              <a:buNone/>
            </a:pPr>
            <a:r>
              <a:rPr lang="zh-CN" altLang="en-US" sz="2000" dirty="0" smtClean="0">
                <a:sym typeface="+mn-ea"/>
              </a:rPr>
              <a:t>    认真巡视病房，</a:t>
            </a:r>
            <a:r>
              <a:rPr lang="zh-CN" altLang="en-US" sz="2000" b="1" dirty="0" smtClean="0">
                <a:sym typeface="+mn-ea"/>
              </a:rPr>
              <a:t>留意患者的动态</a:t>
            </a:r>
            <a:r>
              <a:rPr lang="zh-CN" altLang="en-US" sz="2000" dirty="0" smtClean="0">
                <a:sym typeface="+mn-ea"/>
              </a:rPr>
              <a:t>，对患有阿尔兹海默症</a:t>
            </a:r>
            <a:r>
              <a:rPr lang="zh-CN" altLang="en-US" sz="2000" dirty="0">
                <a:sym typeface="+mn-ea"/>
              </a:rPr>
              <a:t> 、能够自主行走有外出倾向、精神情绪异常的患者加以重点关注和宣教。一旦发现病房中有患者走失，按走失流程处理。</a:t>
            </a: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0025" y="2221230"/>
            <a:ext cx="3193415" cy="25444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40510" y="612775"/>
            <a:ext cx="340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防老人自伤或他伤？</a:t>
            </a:r>
            <a:endParaRPr lang="zh-CN" altLang="en-US" sz="2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5" name="图片 4" descr="说话微信图片_202012091407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100" y="3840480"/>
            <a:ext cx="2120265" cy="29375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83285" y="1645920"/>
            <a:ext cx="766762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）、解决老人诉求，保持日常交流</a:t>
            </a:r>
            <a:endParaRPr lang="zh-CN" altLang="en-US" sz="2400"/>
          </a:p>
          <a:p>
            <a:pPr algn="l"/>
            <a:r>
              <a:rPr lang="zh-CN" altLang="en-US" sz="2400">
                <a:sym typeface="+mn-ea"/>
              </a:rPr>
              <a:t>（</a:t>
            </a:r>
            <a:r>
              <a:rPr lang="en-US" altLang="zh-CN" sz="2400">
                <a:sym typeface="+mn-ea"/>
              </a:rPr>
              <a:t>2</a:t>
            </a:r>
            <a:r>
              <a:rPr lang="zh-CN" altLang="en-US" sz="2400">
                <a:sym typeface="+mn-ea"/>
              </a:rPr>
              <a:t>）、建立有效的沟通，取得信任感</a:t>
            </a:r>
            <a:endParaRPr lang="zh-CN" altLang="en-US" sz="2400">
              <a:sym typeface="+mn-ea"/>
            </a:endParaRPr>
          </a:p>
          <a:p>
            <a:pPr algn="l"/>
            <a:r>
              <a:rPr lang="zh-CN" altLang="en-US" sz="2400"/>
              <a:t>（</a:t>
            </a:r>
            <a:r>
              <a:rPr lang="en-US" altLang="zh-CN" sz="2400"/>
              <a:t>3</a:t>
            </a:r>
            <a:r>
              <a:rPr lang="zh-CN" altLang="en-US" sz="2400"/>
              <a:t>）、理解、尊重</a:t>
            </a:r>
            <a:r>
              <a:rPr lang="zh-CN" altLang="en-US" sz="2400"/>
              <a:t>老人、体会他的感受，做好心理护理</a:t>
            </a:r>
            <a:endParaRPr lang="zh-CN" altLang="en-US" sz="2400"/>
          </a:p>
        </p:txBody>
      </p:sp>
      <p:pic>
        <p:nvPicPr>
          <p:cNvPr id="2" name="图片 1" descr="交流2微信图片_202012100950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200" y="3840480"/>
            <a:ext cx="3347085" cy="2510790"/>
          </a:xfrm>
          <a:prstGeom prst="rect">
            <a:avLst/>
          </a:prstGeom>
        </p:spPr>
      </p:pic>
      <p:pic>
        <p:nvPicPr>
          <p:cNvPr id="4" name="图片 3" descr="交流微信图片_202012100950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5" y="3840480"/>
            <a:ext cx="2974975" cy="22313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563880" y="1372870"/>
            <a:ext cx="1411605" cy="11226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以人为本</a:t>
            </a:r>
            <a:endParaRPr lang="zh-CN" altLang="en-US" sz="20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33730" y="2706370"/>
            <a:ext cx="1352550" cy="11226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尊重患者</a:t>
            </a:r>
            <a:endParaRPr lang="zh-CN" altLang="en-US" sz="20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34365" y="4039870"/>
            <a:ext cx="1350645" cy="11233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寻找原因</a:t>
            </a:r>
            <a:endParaRPr lang="zh-CN" altLang="en-US" sz="20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34365" y="5392420"/>
            <a:ext cx="1341120" cy="112395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提供帮助</a:t>
            </a:r>
            <a:endParaRPr lang="zh-CN" altLang="en-US" sz="20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心形 1"/>
          <p:cNvSpPr/>
          <p:nvPr/>
        </p:nvSpPr>
        <p:spPr>
          <a:xfrm>
            <a:off x="2506980" y="1887220"/>
            <a:ext cx="1350010" cy="1112520"/>
          </a:xfrm>
          <a:prstGeom prst="heart">
            <a:avLst/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scaled="0"/>
          </a:gradFill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心形 3"/>
          <p:cNvSpPr/>
          <p:nvPr/>
        </p:nvSpPr>
        <p:spPr>
          <a:xfrm>
            <a:off x="2506980" y="3340735"/>
            <a:ext cx="1350010" cy="1112520"/>
          </a:xfrm>
          <a:prstGeom prst="heart">
            <a:avLst/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scaled="0"/>
          </a:gradFill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心形 4"/>
          <p:cNvSpPr/>
          <p:nvPr/>
        </p:nvSpPr>
        <p:spPr>
          <a:xfrm>
            <a:off x="2506980" y="5041265"/>
            <a:ext cx="1350010" cy="1112520"/>
          </a:xfrm>
          <a:prstGeom prst="heart">
            <a:avLst/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scaled="0"/>
          </a:gradFill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784475" y="2160270"/>
            <a:ext cx="7950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爱心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33675" y="3596640"/>
            <a:ext cx="7950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耐心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733675" y="5295265"/>
            <a:ext cx="7950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细心</a:t>
            </a:r>
            <a:endParaRPr lang="zh-CN" altLang="en-US" sz="2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39595" y="561340"/>
            <a:ext cx="64668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老吾老以及人之老      幼吾幼以及人之幼</a:t>
            </a:r>
            <a:endParaRPr lang="zh-CN" altLang="en-US" sz="28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6" name="图片 5" descr="李主任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1655" y="2358390"/>
            <a:ext cx="3457575" cy="2936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2575" y="1259205"/>
            <a:ext cx="6038850" cy="2597150"/>
          </a:xfrm>
          <a:prstGeom prst="rect">
            <a:avLst/>
          </a:prstGeom>
        </p:spPr>
      </p:pic>
      <p:pic>
        <p:nvPicPr>
          <p:cNvPr id="5122" name="Picture 2" descr="毕业了大图 点击还原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3856355"/>
            <a:ext cx="6038850" cy="1080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3816,&quot;width&quot;:5088}"/>
</p:tagLst>
</file>

<file path=ppt/theme/theme1.xml><?xml version="1.0" encoding="utf-8"?>
<a:theme xmlns:a="http://schemas.openxmlformats.org/drawingml/2006/main" name="Office 主题">
  <a:themeElements>
    <a:clrScheme name="Office 主题 3">
      <a:dk1>
        <a:srgbClr val="124B98"/>
      </a:dk1>
      <a:lt1>
        <a:srgbClr val="FFFFFF"/>
      </a:lt1>
      <a:dk2>
        <a:srgbClr val="000000"/>
      </a:dk2>
      <a:lt2>
        <a:srgbClr val="DDDDDD"/>
      </a:lt2>
      <a:accent1>
        <a:srgbClr val="4976D1"/>
      </a:accent1>
      <a:accent2>
        <a:srgbClr val="1BABE5"/>
      </a:accent2>
      <a:accent3>
        <a:srgbClr val="FFFFFF"/>
      </a:accent3>
      <a:accent4>
        <a:srgbClr val="0E3F81"/>
      </a:accent4>
      <a:accent5>
        <a:srgbClr val="B1BDE5"/>
      </a:accent5>
      <a:accent6>
        <a:srgbClr val="179BCF"/>
      </a:accent6>
      <a:hlink>
        <a:srgbClr val="4DC9A9"/>
      </a:hlink>
      <a:folHlink>
        <a:srgbClr val="9C76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Office 主题 1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8393E1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7685CC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9999FF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8A8AE7"/>
        </a:accent6>
        <a:hlink>
          <a:srgbClr val="FF9933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124B98"/>
        </a:dk1>
        <a:lt1>
          <a:srgbClr val="FFFFFF"/>
        </a:lt1>
        <a:dk2>
          <a:srgbClr val="000000"/>
        </a:dk2>
        <a:lt2>
          <a:srgbClr val="DDDDDD"/>
        </a:lt2>
        <a:accent1>
          <a:srgbClr val="4976D1"/>
        </a:accent1>
        <a:accent2>
          <a:srgbClr val="1BABE5"/>
        </a:accent2>
        <a:accent3>
          <a:srgbClr val="FFFFFF"/>
        </a:accent3>
        <a:accent4>
          <a:srgbClr val="0E3F81"/>
        </a:accent4>
        <a:accent5>
          <a:srgbClr val="B1BDE5"/>
        </a:accent5>
        <a:accent6>
          <a:srgbClr val="179BCF"/>
        </a:accent6>
        <a:hlink>
          <a:srgbClr val="4DC9A9"/>
        </a:hlink>
        <a:folHlink>
          <a:srgbClr val="9C76F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2199</Words>
  <Application>WPS 演示</Application>
  <PresentationFormat>全屏显示(4:3)</PresentationFormat>
  <Paragraphs>132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Segoe Print</vt:lpstr>
      <vt:lpstr>Calibri</vt:lpstr>
      <vt:lpstr>Verdana</vt:lpstr>
      <vt:lpstr>黑体</vt:lpstr>
      <vt:lpstr>Times New Roman</vt:lpstr>
      <vt:lpstr>微软雅黑</vt:lpstr>
      <vt:lpstr>Arial Unicode MS</vt:lpstr>
      <vt:lpstr>Open Sans</vt:lpstr>
      <vt:lpstr>Office 主题</vt:lpstr>
      <vt:lpstr>失智症老人的照护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安全管理之防止跌倒/坠床5</vt:lpstr>
      <vt:lpstr> 安全管理之预防噎食、误吸3</vt:lpstr>
      <vt:lpstr> 安全管理之预防噎食、误吸4</vt:lpstr>
      <vt:lpstr> 安全管理之预防压力性损伤2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GuildDesign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ThemeGallery.com</dc:creator>
  <cp:lastModifiedBy>5bq-3</cp:lastModifiedBy>
  <cp:revision>512</cp:revision>
  <dcterms:created xsi:type="dcterms:W3CDTF">1900-01-01T00:00:00Z</dcterms:created>
  <dcterms:modified xsi:type="dcterms:W3CDTF">2025-11-19T21:18:53Z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